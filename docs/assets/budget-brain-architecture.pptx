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f71627e2c64007" /><Relationship Type="http://schemas.openxmlformats.org/officeDocument/2006/relationships/extended-properties" Target="/docProps/app.xml" Id="R16e8a51a267d4cbd" /><Relationship Type="http://schemas.openxmlformats.org/officeDocument/2006/relationships/officeDocument" Target="/ppt/presentation.xml" Id="R55b4392aabfe4c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9148a6b11146c4"/>
  </p:sldMasterIdLst>
  <p:notesMasterIdLst>
    <p:notesMasterId xmlns:r="http://schemas.openxmlformats.org/officeDocument/2006/relationships" r:id="Rb109886d759748dc"/>
  </p:notesMasterIdLst>
  <p:sldIdLst>
    <p:sldId xmlns:r="http://schemas.openxmlformats.org/officeDocument/2006/relationships" id="256" r:id="Rd78e58c498164dc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0170d1b7d24b50" /><Relationship Type="http://schemas.openxmlformats.org/officeDocument/2006/relationships/slideMaster" Target="/ppt/slideMasters/slideMaster1.xml" Id="Rdc9148a6b11146c4" /><Relationship Type="http://schemas.openxmlformats.org/officeDocument/2006/relationships/notesMaster" Target="/ppt/notesMasters/notesMaster1.xml" Id="Rb109886d759748dc" /><Relationship Type="http://schemas.openxmlformats.org/officeDocument/2006/relationships/presProps" Target="/ppt/presProps.xml" Id="R3d1f79a13cf34a17" /><Relationship Type="http://schemas.openxmlformats.org/officeDocument/2006/relationships/tableStyles" Target="/ppt/tableStyles.xml" Id="R17a4f7aa49ed4da0" /><Relationship Type="http://schemas.openxmlformats.org/officeDocument/2006/relationships/slide" Target="/ppt/slides/slide1.xml" Id="Rd78e58c498164d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9ef614ce8843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bb9a17f7334008" /><Relationship Type="http://schemas.openxmlformats.org/officeDocument/2006/relationships/notesMaster" Target="/ppt/notesMasters/notesMaster1.xml" Id="R3b8b82b479814bd9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  <ns1:p>
            <ns1:r>
              <ns1:t/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8d47b617d47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1060bcd074c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4d8e29c3740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055ca4e8ca45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0e7fac9aa43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f36e5dad043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AC92B1-C6BE-42C1-9A13-83B137F2E9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7FC7865-981C-41B0-AFBE-32A26EB85D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136CB4-7A58-47A9-BA53-8DE1FF4F75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E3063C-D430-4E5D-8312-D848EF661E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BA67DA5-FAA3-4147-A6F1-5F1A54A597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E76228-59A2-40C0-9CEB-178F74407B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C7963B-A2F7-422E-90EC-8BC6960E6D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5E8F01A-297A-4D8C-834C-6260F074AD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39193B-80BC-4777-A2B2-227F5E314B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DA6333-8542-4260-8D20-7E6C467ABF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5782e3100b4722" /><Relationship Type="http://schemas.openxmlformats.org/officeDocument/2006/relationships/slideLayout" Target="/ppt/slideLayouts/slideLayout1.xml" Id="Rb2bab4ea81854d23" /><Relationship Type="http://schemas.openxmlformats.org/officeDocument/2006/relationships/slideLayout" Target="/ppt/slideLayouts/slideLayout2.xml" Id="R20156a89084a47a0" /><Relationship Type="http://schemas.openxmlformats.org/officeDocument/2006/relationships/slideLayout" Target="/ppt/slideLayouts/slideLayout3.xml" Id="R349b21bc08c24ea2" /><Relationship Type="http://schemas.openxmlformats.org/officeDocument/2006/relationships/slideLayout" Target="/ppt/slideLayouts/slideLayout4.xml" Id="R762ee50c0ce0447c" /><Relationship Type="http://schemas.openxmlformats.org/officeDocument/2006/relationships/slideLayout" Target="/ppt/slideLayouts/slideLayout5.xml" Id="R266acc454caf44ed" /><Relationship Type="http://schemas.openxmlformats.org/officeDocument/2006/relationships/slideLayout" Target="/ppt/slideLayouts/slideLayout6.xml" Id="R6e76ad794c4e4a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bab4ea81854d23"/>
    <p:sldLayoutId xmlns:r="http://schemas.openxmlformats.org/officeDocument/2006/relationships" id="2147483650" r:id="R20156a89084a47a0"/>
    <p:sldLayoutId xmlns:r="http://schemas.openxmlformats.org/officeDocument/2006/relationships" id="2147483651" r:id="R349b21bc08c24ea2"/>
    <p:sldLayoutId xmlns:r="http://schemas.openxmlformats.org/officeDocument/2006/relationships" id="2147483652" r:id="R762ee50c0ce0447c"/>
    <p:sldLayoutId xmlns:r="http://schemas.openxmlformats.org/officeDocument/2006/relationships" id="2147483653" r:id="R266acc454caf44ed"/>
    <p:sldLayoutId xmlns:r="http://schemas.openxmlformats.org/officeDocument/2006/relationships" id="2147483654" r:id="R6e76ad794c4e4a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069e8354464269" /><Relationship Type="http://schemas.openxmlformats.org/officeDocument/2006/relationships/notesSlide" Target="/ppt/notesSlides/notesSlide1.xml" Id="R19ec06b669034d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05CC9-9D30-4592-8A99-681AE6C25AAB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2096750" y="5391150"/>
            <a:ext cx="1952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6DA0"/>
            </a:solidFill>
            <a:headEnd type="triangle" w="med" len="med"/>
            <a:tailEnd type="triangle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C2D91-699D-4865-88F3-2C47343663F7}"/>
              </a:ext>
            </a:extLst>
          </p:cNvPr>
          <p:cNvCxnSpPr>
            <a:stCxn xmlns:a="http://schemas.openxmlformats.org/drawingml/2006/main" id="35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9953625" y="3486150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77E83"/>
            </a:solidFill>
            <a:tailEnd type="triangle" w="med" len="med"/>
          </a:ln>
        </p:spPr>
      </p:cxn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D9C6AD-06ED-453B-991E-ED89CF44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381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22C43"/>
                </a:solidFill>
                <a:latin typeface="Arial"/>
                <a:ea typeface="Arial"/>
                <a:cs typeface="Arial"/>
              </a:rPr>
              <a:t>Budget Brain architecture</a:t>
            </a:r>
          </a:p>
        </p:txBody>
      </p:sp>
      <p:sp>
        <p:nvSpPr>
          <p:cNvPr id="5" name="future-state-subtitle">
            <a:extLst xmlns:a="http://schemas.openxmlformats.org/drawingml/2006/main">
              <a:ext uri="{FF2B5EF4-FFF2-40B4-BE49-F238E27FC236}">
                <a16:creationId xmlns:a16="http://schemas.microsoft.com/office/drawing/2014/main" id="{25BB43C4-2A8F-4FA1-ABDB-5875EECE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009650"/>
            <a:ext cx="1685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AI skills, an authenticated MCP service and shared household settings</a:t>
            </a:r>
          </a:p>
        </p:txBody>
      </p:sp>
      <p:sp>
        <p:nvSpPr>
          <p:cNvPr id="6" name="signup-title-0">
            <a:extLst xmlns:a="http://schemas.openxmlformats.org/drawingml/2006/main">
              <a:ext uri="{FF2B5EF4-FFF2-40B4-BE49-F238E27FC236}">
                <a16:creationId xmlns:a16="http://schemas.microsoft.com/office/drawing/2014/main" id="{1B55C494-73A0-4351-BE37-69656D7F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2877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7E83"/>
                </a:solidFill>
                <a:latin typeface="Arial"/>
                <a:ea typeface="Arial"/>
                <a:cs typeface="Arial"/>
              </a:rPr>
              <a:t>1  Create your account</a:t>
            </a:r>
          </a:p>
        </p:txBody>
      </p:sp>
      <p:sp>
        <p:nvSpPr>
          <p:cNvPr id="7" name="signup-detail-0">
            <a:extLst xmlns:a="http://schemas.openxmlformats.org/drawingml/2006/main">
              <a:ext uri="{FF2B5EF4-FFF2-40B4-BE49-F238E27FC236}">
                <a16:creationId xmlns:a16="http://schemas.microsoft.com/office/drawing/2014/main" id="{D79E06F5-4F98-4225-A443-63A05030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00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Sign in with Auth0</a:t>
            </a:r>
          </a:p>
        </p:txBody>
      </p:sp>
      <p:cxnSp>
        <p:nvCxnSpPr>
          <p:cNvPr id="8" name="signup-link-0">
            <a:extLst xmlns:a="http://schemas.openxmlformats.org/drawingml/2006/main">
              <a:ext uri="{FF2B5EF4-FFF2-40B4-BE49-F238E27FC236}">
                <a16:creationId xmlns:a16="http://schemas.microsoft.com/office/drawing/2014/main" id="{789855C1-73EE-48B3-9339-DC3F0C99FA98}"/>
              </a:ext>
            </a:extLst>
          </p:cNvPr>
          <p:cNvCxnSpPr/>
          <p:nvPr/>
        </p:nvCxnSpPr>
        <p:spPr>
          <a:xfrm xmlns:a="http://schemas.openxmlformats.org/drawingml/2006/main">
            <a:off x="4629150" y="18002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77E83"/>
            </a:solidFill>
            <a:tailEnd type="triangle" w="med" len="med"/>
          </a:ln>
        </p:spPr>
      </p:cxnSp>
      <p:sp>
        <p:nvSpPr>
          <p:cNvPr id="9" name="signup-title-1">
            <a:extLst xmlns:a="http://schemas.openxmlformats.org/drawingml/2006/main">
              <a:ext uri="{FF2B5EF4-FFF2-40B4-BE49-F238E27FC236}">
                <a16:creationId xmlns:a16="http://schemas.microsoft.com/office/drawing/2014/main" id="{B663282D-961E-4081-B740-7EF721A5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62877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7E83"/>
                </a:solidFill>
                <a:latin typeface="Arial"/>
                <a:ea typeface="Arial"/>
                <a:cs typeface="Arial"/>
              </a:rPr>
              <a:t>2  Connect YNAB</a:t>
            </a:r>
          </a:p>
        </p:txBody>
      </p:sp>
      <p:sp>
        <p:nvSpPr>
          <p:cNvPr id="10" name="signup-detail-1">
            <a:extLst xmlns:a="http://schemas.openxmlformats.org/drawingml/2006/main">
              <a:ext uri="{FF2B5EF4-FFF2-40B4-BE49-F238E27FC236}">
                <a16:creationId xmlns:a16="http://schemas.microsoft.com/office/drawing/2014/main" id="{6376A547-7A9B-4C85-9764-3C19E4B8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00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Authorize access and choose a budget</a:t>
            </a:r>
          </a:p>
        </p:txBody>
      </p:sp>
      <p:cxnSp>
        <p:nvCxnSpPr>
          <p:cNvPr id="11" name="signup-link-1">
            <a:extLst xmlns:a="http://schemas.openxmlformats.org/drawingml/2006/main">
              <a:ext uri="{FF2B5EF4-FFF2-40B4-BE49-F238E27FC236}">
                <a16:creationId xmlns:a16="http://schemas.microsoft.com/office/drawing/2014/main" id="{3D1E1FCB-C778-4FB6-A931-958FE02E90A2}"/>
              </a:ext>
            </a:extLst>
          </p:cNvPr>
          <p:cNvCxnSpPr/>
          <p:nvPr/>
        </p:nvCxnSpPr>
        <p:spPr>
          <a:xfrm xmlns:a="http://schemas.openxmlformats.org/drawingml/2006/main">
            <a:off x="8972550" y="18002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77E83"/>
            </a:solidFill>
            <a:tailEnd type="triangle" w="med" len="med"/>
          </a:ln>
        </p:spPr>
      </p:cxnSp>
      <p:sp>
        <p:nvSpPr>
          <p:cNvPr id="12" name="signup-title-2">
            <a:extLst xmlns:a="http://schemas.openxmlformats.org/drawingml/2006/main">
              <a:ext uri="{FF2B5EF4-FFF2-40B4-BE49-F238E27FC236}">
                <a16:creationId xmlns:a16="http://schemas.microsoft.com/office/drawing/2014/main" id="{3EDBC410-6EAD-419C-8C54-396D2F2C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62877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7E83"/>
                </a:solidFill>
                <a:latin typeface="Arial"/>
                <a:ea typeface="Arial"/>
                <a:cs typeface="Arial"/>
              </a:rPr>
              <a:t>3  Set household preferences</a:t>
            </a:r>
          </a:p>
        </p:txBody>
      </p:sp>
      <p:sp>
        <p:nvSpPr>
          <p:cNvPr id="13" name="signup-detail-2">
            <a:extLst xmlns:a="http://schemas.openxmlformats.org/drawingml/2006/main">
              <a:ext uri="{FF2B5EF4-FFF2-40B4-BE49-F238E27FC236}">
                <a16:creationId xmlns:a16="http://schemas.microsoft.com/office/drawing/2014/main" id="{884101CC-7537-4122-B6D1-2E831224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000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Save rules and invite your partner</a:t>
            </a:r>
          </a:p>
        </p:txBody>
      </p:sp>
      <p:cxnSp>
        <p:nvCxnSpPr>
          <p:cNvPr id="14" name="signup-link-2">
            <a:extLst xmlns:a="http://schemas.openxmlformats.org/drawingml/2006/main">
              <a:ext uri="{FF2B5EF4-FFF2-40B4-BE49-F238E27FC236}">
                <a16:creationId xmlns:a16="http://schemas.microsoft.com/office/drawing/2014/main" id="{C56EC4EA-5735-4ACF-AFC9-E720AFF9FD12}"/>
              </a:ext>
            </a:extLst>
          </p:cNvPr>
          <p:cNvCxnSpPr/>
          <p:nvPr/>
        </p:nvCxnSpPr>
        <p:spPr>
          <a:xfrm xmlns:a="http://schemas.openxmlformats.org/drawingml/2006/main">
            <a:off x="13315950" y="18002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77E83"/>
            </a:solidFill>
            <a:tailEnd type="triangle" w="med" len="med"/>
          </a:ln>
        </p:spPr>
      </p:cxnSp>
      <p:sp>
        <p:nvSpPr>
          <p:cNvPr id="15" name="signup-title-3">
            <a:extLst xmlns:a="http://schemas.openxmlformats.org/drawingml/2006/main">
              <a:ext uri="{FF2B5EF4-FFF2-40B4-BE49-F238E27FC236}">
                <a16:creationId xmlns:a16="http://schemas.microsoft.com/office/drawing/2014/main" id="{2573B539-DE34-4443-84B1-6F935D10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162877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7E83"/>
                </a:solidFill>
                <a:latin typeface="Arial"/>
                <a:ea typeface="Arial"/>
                <a:cs typeface="Arial"/>
              </a:rPr>
              <a:t>4  Add Budget Brain to ChatGPT</a:t>
            </a:r>
          </a:p>
        </p:txBody>
      </p:sp>
      <p:sp>
        <p:nvSpPr>
          <p:cNvPr id="16" name="signup-detail-3">
            <a:extLst xmlns:a="http://schemas.openxmlformats.org/drawingml/2006/main">
              <a:ext uri="{FF2B5EF4-FFF2-40B4-BE49-F238E27FC236}">
                <a16:creationId xmlns:a16="http://schemas.microsoft.com/office/drawing/2014/main" id="{31684143-C474-4590-B67F-5529A177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2000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Use the skills with your household</a:t>
            </a:r>
          </a:p>
        </p:txBody>
      </p:sp>
      <p:sp>
        <p:nvSpPr>
          <p:cNvPr id="17" name="ChatGPT plugin boundary">
            <a:extLst xmlns:a="http://schemas.openxmlformats.org/drawingml/2006/main">
              <a:ext uri="{FF2B5EF4-FFF2-40B4-BE49-F238E27FC236}">
                <a16:creationId xmlns:a16="http://schemas.microsoft.com/office/drawing/2014/main" id="{F9D1AEA7-ABE3-4A4C-82B6-5A272736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953125" cy="595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8BAC8"/>
            </a:solidFill>
          </a:ln>
        </p:spPr>
      </p:sp>
      <p:sp>
        <p:nvSpPr>
          <p:cNvPr id="18" name="plugin-heading">
            <a:extLst xmlns:a="http://schemas.openxmlformats.org/drawingml/2006/main">
              <a:ext uri="{FF2B5EF4-FFF2-40B4-BE49-F238E27FC236}">
                <a16:creationId xmlns:a16="http://schemas.microsoft.com/office/drawing/2014/main" id="{3C288614-8113-40A0-B673-476C1272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552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2C43"/>
                </a:solidFill>
                <a:latin typeface="Arial"/>
                <a:ea typeface="Arial"/>
                <a:cs typeface="Arial"/>
              </a:rPr>
              <a:t>ChatGPT + Budget Brain plugin</a:t>
            </a:r>
          </a:p>
        </p:txBody>
      </p:sp>
      <p:sp>
        <p:nvSpPr>
          <p:cNvPr id="19" name="plugin-subheading">
            <a:extLst xmlns:a="http://schemas.openxmlformats.org/drawingml/2006/main">
              <a:ext uri="{FF2B5EF4-FFF2-40B4-BE49-F238E27FC236}">
                <a16:creationId xmlns:a16="http://schemas.microsoft.com/office/drawing/2014/main" id="{4900E307-141E-43AD-8AB5-2471B8D4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47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Six skills guide the conversation</a:t>
            </a:r>
          </a:p>
        </p:txBody>
      </p:sp>
      <p:sp>
        <p:nvSpPr>
          <p:cNvPr id="20" name="skill-title-0">
            <a:extLst xmlns:a="http://schemas.openxmlformats.org/drawingml/2006/main">
              <a:ext uri="{FF2B5EF4-FFF2-40B4-BE49-F238E27FC236}">
                <a16:creationId xmlns:a16="http://schemas.microsoft.com/office/drawing/2014/main" id="{8B53BF0B-51F8-42E3-A851-B6073C71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2638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DA0"/>
                </a:solidFill>
                <a:latin typeface="Arial"/>
                <a:ea typeface="Arial"/>
                <a:cs typeface="Arial"/>
              </a:rPr>
              <a:t>Assign paycheck</a:t>
            </a:r>
          </a:p>
        </p:txBody>
      </p:sp>
      <p:sp>
        <p:nvSpPr>
          <p:cNvPr id="21" name="skill-definition-0">
            <a:extLst xmlns:a="http://schemas.openxmlformats.org/drawingml/2006/main">
              <a:ext uri="{FF2B5EF4-FFF2-40B4-BE49-F238E27FC236}">
                <a16:creationId xmlns:a16="http://schemas.microsoft.com/office/drawing/2014/main" id="{26B243BE-A69A-4765-90AC-7725D0FA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6384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Fund priorities from</a:t>
            </a:r>
          </a:p>
          <a:p xmlns:a="http://schemas.openxmlformats.org/drawingml/2006/main">
            <a: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received paychecks.</a:t>
            </a:r>
          </a:p>
        </p:txBody>
      </p:sp>
      <p:sp>
        <p:nvSpPr>
          <p:cNvPr id="22" name="skill-title-1">
            <a:extLst xmlns:a="http://schemas.openxmlformats.org/drawingml/2006/main">
              <a:ext uri="{FF2B5EF4-FFF2-40B4-BE49-F238E27FC236}">
                <a16:creationId xmlns:a16="http://schemas.microsoft.com/office/drawing/2014/main" id="{DFA357E4-87A6-49C6-BAB8-99055B02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2638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DA0"/>
                </a:solidFill>
                <a:latin typeface="Arial"/>
                <a:ea typeface="Arial"/>
                <a:cs typeface="Arial"/>
              </a:rPr>
              <a:t>Review budget</a:t>
            </a:r>
          </a:p>
        </p:txBody>
      </p:sp>
      <p:sp>
        <p:nvSpPr>
          <p:cNvPr id="23" name="skill-definition-1">
            <a:extLst xmlns:a="http://schemas.openxmlformats.org/drawingml/2006/main">
              <a:ext uri="{FF2B5EF4-FFF2-40B4-BE49-F238E27FC236}">
                <a16:creationId xmlns:a16="http://schemas.microsoft.com/office/drawing/2014/main" id="{7D7CDE7B-78D9-4B86-B072-6ECF3A8C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26384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Check spending, bills</a:t>
            </a:r>
          </a:p>
          <a:p xmlns:a="http://schemas.openxmlformats.org/drawingml/2006/main">
            <a: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and current balances.</a:t>
            </a:r>
          </a:p>
        </p:txBody>
      </p:sp>
      <p:sp>
        <p:nvSpPr>
          <p:cNvPr id="24" name="skill-title-2">
            <a:extLst xmlns:a="http://schemas.openxmlformats.org/drawingml/2006/main">
              <a:ext uri="{FF2B5EF4-FFF2-40B4-BE49-F238E27FC236}">
                <a16:creationId xmlns:a16="http://schemas.microsoft.com/office/drawing/2014/main" id="{204DFE70-E96B-42CB-B73A-25E8FF2C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15125"/>
            <a:ext cx="2638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DA0"/>
                </a:solidFill>
                <a:latin typeface="Arial"/>
                <a:ea typeface="Arial"/>
                <a:cs typeface="Arial"/>
              </a:rPr>
              <a:t>Record transactions</a:t>
            </a:r>
          </a:p>
        </p:txBody>
      </p:sp>
      <p:sp>
        <p:nvSpPr>
          <p:cNvPr id="25" name="skill-definition-2">
            <a:extLst xmlns:a="http://schemas.openxmlformats.org/drawingml/2006/main">
              <a:ext uri="{FF2B5EF4-FFF2-40B4-BE49-F238E27FC236}">
                <a16:creationId xmlns:a16="http://schemas.microsoft.com/office/drawing/2014/main" id="{4748F3B2-4015-4945-95F7-4F94833C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24700"/>
            <a:ext cx="26384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Check duplicates, then</a:t>
            </a:r>
          </a:p>
          <a:p xmlns:a="http://schemas.openxmlformats.org/drawingml/2006/main">
            <a: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record, categorize or split.</a:t>
            </a:r>
          </a:p>
        </p:txBody>
      </p:sp>
      <p:sp>
        <p:nvSpPr>
          <p:cNvPr id="26" name="skill-title-3">
            <a:extLst xmlns:a="http://schemas.openxmlformats.org/drawingml/2006/main">
              <a:ext uri="{FF2B5EF4-FFF2-40B4-BE49-F238E27FC236}">
                <a16:creationId xmlns:a16="http://schemas.microsoft.com/office/drawing/2014/main" id="{CC610570-21CE-474D-9228-6923803C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143375"/>
            <a:ext cx="2638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DA0"/>
                </a:solidFill>
                <a:latin typeface="Arial"/>
                <a:ea typeface="Arial"/>
                <a:cs typeface="Arial"/>
              </a:rPr>
              <a:t>Sustainability</a:t>
            </a:r>
          </a:p>
        </p:txBody>
      </p:sp>
      <p:sp>
        <p:nvSpPr>
          <p:cNvPr id="27" name="skill-definition-3">
            <a:extLst xmlns:a="http://schemas.openxmlformats.org/drawingml/2006/main">
              <a:ext uri="{FF2B5EF4-FFF2-40B4-BE49-F238E27FC236}">
                <a16:creationId xmlns:a16="http://schemas.microsoft.com/office/drawing/2014/main" id="{0F271B06-F215-4F11-8673-718FC975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552950"/>
            <a:ext cx="26384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Compare income with</a:t>
            </a:r>
          </a:p>
          <a:p xmlns:a="http://schemas.openxmlformats.org/drawingml/2006/main">
            <a: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targets and bills.</a:t>
            </a:r>
          </a:p>
        </p:txBody>
      </p:sp>
      <p:sp>
        <p:nvSpPr>
          <p:cNvPr id="28" name="skill-title-4">
            <a:extLst xmlns:a="http://schemas.openxmlformats.org/drawingml/2006/main">
              <a:ext uri="{FF2B5EF4-FFF2-40B4-BE49-F238E27FC236}">
                <a16:creationId xmlns:a16="http://schemas.microsoft.com/office/drawing/2014/main" id="{BCD63FC4-134D-4429-B1CE-BE94B12B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429250"/>
            <a:ext cx="2638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DA0"/>
                </a:solidFill>
                <a:latin typeface="Arial"/>
                <a:ea typeface="Arial"/>
                <a:cs typeface="Arial"/>
              </a:rPr>
              <a:t>Explore impacts</a:t>
            </a:r>
          </a:p>
        </p:txBody>
      </p:sp>
      <p:sp>
        <p:nvSpPr>
          <p:cNvPr id="29" name="skill-definition-4">
            <a:extLst xmlns:a="http://schemas.openxmlformats.org/drawingml/2006/main">
              <a:ext uri="{FF2B5EF4-FFF2-40B4-BE49-F238E27FC236}">
                <a16:creationId xmlns:a16="http://schemas.microsoft.com/office/drawing/2014/main" id="{0BD3CF7D-DF7F-4568-82A3-7FF2533D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838825"/>
            <a:ext cx="26384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Test one-time expenses</a:t>
            </a:r>
          </a:p>
          <a:p xmlns:a="http://schemas.openxmlformats.org/drawingml/2006/main">
            <a: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and future funding needs.</a:t>
            </a:r>
          </a:p>
        </p:txBody>
      </p:sp>
      <p:sp>
        <p:nvSpPr>
          <p:cNvPr id="30" name="skill-title-5">
            <a:extLst xmlns:a="http://schemas.openxmlformats.org/drawingml/2006/main">
              <a:ext uri="{FF2B5EF4-FFF2-40B4-BE49-F238E27FC236}">
                <a16:creationId xmlns:a16="http://schemas.microsoft.com/office/drawing/2014/main" id="{76593822-DCE7-46C4-B23D-FE597CB3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6715125"/>
            <a:ext cx="2638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DA0"/>
                </a:solidFill>
                <a:latin typeface="Arial"/>
                <a:ea typeface="Arial"/>
                <a:cs typeface="Arial"/>
              </a:rPr>
              <a:t>Guided settings</a:t>
            </a:r>
          </a:p>
        </p:txBody>
      </p:sp>
      <p:sp>
        <p:nvSpPr>
          <p:cNvPr id="31" name="skill-definition-5">
            <a:extLst xmlns:a="http://schemas.openxmlformats.org/drawingml/2006/main">
              <a:ext uri="{FF2B5EF4-FFF2-40B4-BE49-F238E27FC236}">
                <a16:creationId xmlns:a16="http://schemas.microsoft.com/office/drawing/2014/main" id="{91EBE1E7-9495-4E9B-B6CE-6EAD7759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7124700"/>
            <a:ext cx="26384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Set up your budget,</a:t>
            </a:r>
          </a:p>
          <a:p xmlns:a="http://schemas.openxmlformats.org/drawingml/2006/main">
            <a: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rules and member access.</a:t>
            </a:r>
          </a:p>
        </p:txBody>
      </p:sp>
      <p:sp>
        <p:nvSpPr>
          <p:cNvPr id="32" name="chatgpt-data-disclosure">
            <a:extLst xmlns:a="http://schemas.openxmlformats.org/drawingml/2006/main">
              <a:ext uri="{FF2B5EF4-FFF2-40B4-BE49-F238E27FC236}">
                <a16:creationId xmlns:a16="http://schemas.microsoft.com/office/drawing/2014/main" id="{6CAE0EDE-644A-4EFD-918C-3EDE251B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48625"/>
            <a:ext cx="542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ChatGPT receives the budget context</a:t>
            </a:r>
          </a:p>
          <a:p xmlns:a="http://schemas.openxmlformats.org/drawingml/2006/main">
            <a: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needed to answer your request.</a:t>
            </a:r>
          </a:p>
        </p:txBody>
      </p:sp>
      <p:sp>
        <p:nvSpPr>
          <p:cNvPr id="33" name="Google Cloud service boundary">
            <a:extLst xmlns:a="http://schemas.openxmlformats.org/drawingml/2006/main">
              <a:ext uri="{FF2B5EF4-FFF2-40B4-BE49-F238E27FC236}">
                <a16:creationId xmlns:a16="http://schemas.microsoft.com/office/drawing/2014/main" id="{8348520B-84FA-478F-989C-0A956C98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95700"/>
            <a:ext cx="10287000" cy="544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94B4C8"/>
            </a:solidFill>
          </a:ln>
        </p:spPr>
      </p:sp>
      <p:sp>
        <p:nvSpPr>
          <p:cNvPr id="34" name="cloud-boundary-label">
            <a:extLst xmlns:a="http://schemas.openxmlformats.org/drawingml/2006/main">
              <a:ext uri="{FF2B5EF4-FFF2-40B4-BE49-F238E27FC236}">
                <a16:creationId xmlns:a16="http://schemas.microsoft.com/office/drawing/2014/main" id="{78240DEA-682E-4E73-B54C-B2D442F9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8195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779"/>
                </a:solidFill>
                <a:latin typeface="Arial"/>
                <a:ea typeface="Arial"/>
                <a:cs typeface="Arial"/>
              </a:rPr>
              <a:t>GOOGLE CLOUD</a:t>
            </a:r>
          </a:p>
        </p:txBody>
      </p:sp>
      <p:sp>
        <p:nvSpPr>
          <p:cNvPr id="35" name="Auth0">
            <a:extLst xmlns:a="http://schemas.openxmlformats.org/drawingml/2006/main">
              <a:ext uri="{FF2B5EF4-FFF2-40B4-BE49-F238E27FC236}">
                <a16:creationId xmlns:a16="http://schemas.microsoft.com/office/drawing/2014/main" id="{78689FD1-2219-406B-801B-4CCE6797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71750"/>
            <a:ext cx="398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4"/>
          </a:solidFill>
          <a:ln xmlns:a="http://schemas.openxmlformats.org/drawingml/2006/main" w="16193">
            <a:solidFill>
              <a:srgbClr val="74ABA1"/>
            </a:solidFill>
          </a:ln>
        </p:spPr>
      </p:sp>
      <p:sp>
        <p:nvSpPr>
          <p:cNvPr id="36" name="auth0-title">
            <a:extLst xmlns:a="http://schemas.openxmlformats.org/drawingml/2006/main">
              <a:ext uri="{FF2B5EF4-FFF2-40B4-BE49-F238E27FC236}">
                <a16:creationId xmlns:a16="http://schemas.microsoft.com/office/drawing/2014/main" id="{8291DED7-4D74-4898-B244-8C082B75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358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77E83"/>
                </a:solidFill>
                <a:latin typeface="Arial"/>
                <a:ea typeface="Arial"/>
                <a:cs typeface="Arial"/>
              </a:rPr>
              <a:t>Auth0</a:t>
            </a:r>
          </a:p>
        </p:txBody>
      </p:sp>
      <p:sp>
        <p:nvSpPr>
          <p:cNvPr id="37" name="auth0-description">
            <a:extLst xmlns:a="http://schemas.openxmlformats.org/drawingml/2006/main">
              <a:ext uri="{FF2B5EF4-FFF2-40B4-BE49-F238E27FC236}">
                <a16:creationId xmlns:a16="http://schemas.microsoft.com/office/drawing/2014/main" id="{5A6A81E7-1BEE-476B-8A85-89A8B129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86100"/>
            <a:ext cx="3581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Sign-in and access tokens</a:t>
            </a:r>
          </a:p>
        </p:txBody>
      </p:sp>
      <p:sp>
        <p:nvSpPr>
          <p:cNvPr id="38" name="Google Cloud Run">
            <a:extLst xmlns:a="http://schemas.openxmlformats.org/drawingml/2006/main">
              <a:ext uri="{FF2B5EF4-FFF2-40B4-BE49-F238E27FC236}">
                <a16:creationId xmlns:a16="http://schemas.microsoft.com/office/drawing/2014/main" id="{D11153F8-6131-4DA7-9127-E14F3CB6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38625"/>
            <a:ext cx="4286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16193">
            <a:solidFill>
              <a:srgbClr val="5196BB"/>
            </a:solidFill>
          </a:ln>
        </p:spPr>
      </p:sp>
      <p:sp>
        <p:nvSpPr>
          <p:cNvPr id="39" name="cloud-run-title">
            <a:extLst xmlns:a="http://schemas.openxmlformats.org/drawingml/2006/main">
              <a:ext uri="{FF2B5EF4-FFF2-40B4-BE49-F238E27FC236}">
                <a16:creationId xmlns:a16="http://schemas.microsoft.com/office/drawing/2014/main" id="{70753C22-0C96-4139-9883-CAA77DE7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0055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6DA0"/>
                </a:solidFill>
                <a:latin typeface="Arial"/>
                <a:ea typeface="Arial"/>
                <a:cs typeface="Arial"/>
              </a:rPr>
              <a:t>Google Cloud Run</a:t>
            </a:r>
          </a:p>
        </p:txBody>
      </p:sp>
      <p:sp>
        <p:nvSpPr>
          <p:cNvPr id="40" name="cloud-run-subtitle">
            <a:extLst xmlns:a="http://schemas.openxmlformats.org/drawingml/2006/main">
              <a:ext uri="{FF2B5EF4-FFF2-40B4-BE49-F238E27FC236}">
                <a16:creationId xmlns:a16="http://schemas.microsoft.com/office/drawing/2014/main" id="{6EC3D5FD-B746-4FE8-BED7-2D19FCB5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577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C43"/>
                </a:solidFill>
                <a:latin typeface="Arial"/>
                <a:ea typeface="Arial"/>
                <a:cs typeface="Arial"/>
              </a:rPr>
              <a:t>MCP server + calculators</a:t>
            </a:r>
          </a:p>
        </p:txBody>
      </p:sp>
      <p:sp>
        <p:nvSpPr>
          <p:cNvPr id="41" name="cloud-run-controls">
            <a:extLst xmlns:a="http://schemas.openxmlformats.org/drawingml/2006/main">
              <a:ext uri="{FF2B5EF4-FFF2-40B4-BE49-F238E27FC236}">
                <a16:creationId xmlns:a16="http://schemas.microsoft.com/office/drawing/2014/main" id="{3B2A6034-0F7C-4B7F-9A69-2F3424C3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14950"/>
            <a:ext cx="3867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Checks login and household access</a:t>
            </a:r>
          </a:p>
          <a:p xmlns:a="http://schemas.openxmlformats.org/drawingml/2006/main">
            <a: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Scopes each request to its household</a:t>
            </a:r>
          </a:p>
          <a:p xmlns:a="http://schemas.openxmlformats.org/drawingml/2006/main">
            <a: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Previews and verifies approved writes</a:t>
            </a:r>
          </a:p>
        </p:txBody>
      </p:sp>
      <p:sp>
        <p:nvSpPr>
          <p:cNvPr id="42" name="YNAB">
            <a:extLst xmlns:a="http://schemas.openxmlformats.org/drawingml/2006/main">
              <a:ext uri="{FF2B5EF4-FFF2-40B4-BE49-F238E27FC236}">
                <a16:creationId xmlns:a16="http://schemas.microsoft.com/office/drawing/2014/main" id="{3B554710-EFCB-4DFB-8071-46BAC4F9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238625"/>
            <a:ext cx="32385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196BB"/>
            </a:solidFill>
          </a:ln>
        </p:spPr>
      </p:sp>
      <p:sp>
        <p:nvSpPr>
          <p:cNvPr id="43" name="ynab-title">
            <a:extLst xmlns:a="http://schemas.openxmlformats.org/drawingml/2006/main">
              <a:ext uri="{FF2B5EF4-FFF2-40B4-BE49-F238E27FC236}">
                <a16:creationId xmlns:a16="http://schemas.microsoft.com/office/drawing/2014/main" id="{1E2BA620-C59E-4F17-AEC1-451A5A4A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4196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6DA0"/>
                </a:solidFill>
                <a:latin typeface="Arial"/>
                <a:ea typeface="Arial"/>
                <a:cs typeface="Arial"/>
              </a:rPr>
              <a:t>YNAB</a:t>
            </a:r>
          </a:p>
        </p:txBody>
      </p:sp>
      <p:sp>
        <p:nvSpPr>
          <p:cNvPr id="44" name="ynab-description">
            <a:extLst xmlns:a="http://schemas.openxmlformats.org/drawingml/2006/main">
              <a:ext uri="{FF2B5EF4-FFF2-40B4-BE49-F238E27FC236}">
                <a16:creationId xmlns:a16="http://schemas.microsoft.com/office/drawing/2014/main" id="{94129547-321F-400F-8577-94ED2EAD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981575"/>
            <a:ext cx="276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Live budget and transactions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Budget connection</a:t>
            </a:r>
          </a:p>
          <a:p xmlns:a="http://schemas.openxmlformats.org/drawingml/2006/main">
            <a:pPr>
              <a:defRPr sz="1725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Approved budget updates</a:t>
            </a:r>
          </a:p>
        </p:txBody>
      </p:sp>
      <p:sp>
        <p:nvSpPr>
          <p:cNvPr id="45" name="Firestore">
            <a:extLst xmlns:a="http://schemas.openxmlformats.org/drawingml/2006/main">
              <a:ext uri="{FF2B5EF4-FFF2-40B4-BE49-F238E27FC236}">
                <a16:creationId xmlns:a16="http://schemas.microsoft.com/office/drawing/2014/main" id="{0DCA99A2-82C4-4453-B214-EB3FED0E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572375"/>
            <a:ext cx="4286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196BB"/>
            </a:solidFill>
          </a:ln>
        </p:spPr>
      </p:sp>
      <p:sp>
        <p:nvSpPr>
          <p:cNvPr id="46" name="firestore-title">
            <a:extLst xmlns:a="http://schemas.openxmlformats.org/drawingml/2006/main">
              <a:ext uri="{FF2B5EF4-FFF2-40B4-BE49-F238E27FC236}">
                <a16:creationId xmlns:a16="http://schemas.microsoft.com/office/drawing/2014/main" id="{011F63CC-EF16-4B51-BDF8-860D933E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715250"/>
            <a:ext cx="3867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6DA0"/>
                </a:solidFill>
                <a:latin typeface="Arial"/>
                <a:ea typeface="Arial"/>
                <a:cs typeface="Arial"/>
              </a:rPr>
              <a:t>Firestore</a:t>
            </a:r>
          </a:p>
        </p:txBody>
      </p:sp>
      <p:sp>
        <p:nvSpPr>
          <p:cNvPr id="47" name="firestore-description">
            <a:extLst xmlns:a="http://schemas.openxmlformats.org/drawingml/2006/main">
              <a:ext uri="{FF2B5EF4-FFF2-40B4-BE49-F238E27FC236}">
                <a16:creationId xmlns:a16="http://schemas.microsoft.com/office/drawing/2014/main" id="{26AF767D-0937-483E-8132-A3B66FF2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8172450"/>
            <a:ext cx="3867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Household settings and membership</a:t>
            </a:r>
          </a:p>
          <a:p xmlns:a="http://schemas.openxmlformats.org/drawingml/2006/main">
            <a: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Onboarding progress and report index</a:t>
            </a:r>
          </a:p>
        </p:txBody>
      </p:sp>
      <p:sp>
        <p:nvSpPr>
          <p:cNvPr id="48" name="Secret Manager">
            <a:extLst xmlns:a="http://schemas.openxmlformats.org/drawingml/2006/main">
              <a:ext uri="{FF2B5EF4-FFF2-40B4-BE49-F238E27FC236}">
                <a16:creationId xmlns:a16="http://schemas.microsoft.com/office/drawing/2014/main" id="{0ACD6F06-D574-45CF-A3CB-ECC34BAB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572375"/>
            <a:ext cx="4048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4ABA1"/>
            </a:solidFill>
          </a:ln>
        </p:spPr>
      </p:sp>
      <p:sp>
        <p:nvSpPr>
          <p:cNvPr id="49" name="secret-manager-title">
            <a:extLst xmlns:a="http://schemas.openxmlformats.org/drawingml/2006/main">
              <a:ext uri="{FF2B5EF4-FFF2-40B4-BE49-F238E27FC236}">
                <a16:creationId xmlns:a16="http://schemas.microsoft.com/office/drawing/2014/main" id="{01E78088-508B-49F9-97C9-679F5C32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7715250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77E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77E83"/>
                </a:solidFill>
                <a:latin typeface="Arial"/>
                <a:ea typeface="Arial"/>
                <a:cs typeface="Arial"/>
              </a:rPr>
              <a:t>Secret Manager</a:t>
            </a:r>
          </a:p>
        </p:txBody>
      </p:sp>
      <p:sp>
        <p:nvSpPr>
          <p:cNvPr id="50" name="secret-manager-description">
            <a:extLst xmlns:a="http://schemas.openxmlformats.org/drawingml/2006/main">
              <a:ext uri="{FF2B5EF4-FFF2-40B4-BE49-F238E27FC236}">
                <a16:creationId xmlns:a16="http://schemas.microsoft.com/office/drawing/2014/main" id="{EB201A77-137A-4BF6-ACD4-18D42D0A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817245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YNAB tokens and app credentials</a:t>
            </a:r>
          </a:p>
          <a:p xmlns:a="http://schemas.openxmlformats.org/drawingml/2006/main">
            <a:pPr>
              <a:defRPr sz="1650" b="0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C43"/>
                </a:solidFill>
                <a:latin typeface="Arial"/>
                <a:ea typeface="Arial"/>
                <a:cs typeface="Arial"/>
              </a:rPr>
              <a:t>Access through the service identity</a:t>
            </a:r>
          </a:p>
        </p:txBody>
      </p:sp>
      <p:cxnSp>
        <p:nvCxnSpPr>
          <p:cNvPr id="51" name="Secure MCP connection">
            <a:extLst xmlns:a="http://schemas.openxmlformats.org/drawingml/2006/main">
              <a:ext uri="{FF2B5EF4-FFF2-40B4-BE49-F238E27FC236}">
                <a16:creationId xmlns:a16="http://schemas.microsoft.com/office/drawing/2014/main" id="{5A717C11-9261-48A2-B3A1-D1865E5DC923}"/>
              </a:ext>
            </a:extLst>
          </p:cNvPr>
          <p:cNvCxnSpPr/>
          <p:nvPr/>
        </p:nvCxnSpPr>
        <p:spPr>
          <a:xfrm xmlns:a="http://schemas.openxmlformats.org/drawingml/2006/main">
            <a:off x="6562725" y="5391150"/>
            <a:ext cx="12477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6DA0"/>
            </a:solidFill>
            <a:headEnd type="triangle" w="med" len="med"/>
            <a:tailEnd type="triangle" w="med" len="med"/>
          </a:ln>
        </p:spPr>
      </p:cxnSp>
      <p:sp>
        <p:nvSpPr>
          <p:cNvPr id="52" name="mcp-label">
            <a:extLst xmlns:a="http://schemas.openxmlformats.org/drawingml/2006/main">
              <a:ext uri="{FF2B5EF4-FFF2-40B4-BE49-F238E27FC236}">
                <a16:creationId xmlns:a16="http://schemas.microsoft.com/office/drawing/2014/main" id="{728C5BCC-65AF-43F8-8E0E-DE029DEB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24400"/>
            <a:ext cx="10382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6DA0"/>
                </a:solidFill>
                <a:latin typeface="Arial"/>
                <a:ea typeface="Arial"/>
                <a:cs typeface="Arial"/>
              </a:rPr>
              <a:t>Secure</a:t>
            </a:r>
          </a:p>
          <a:p xmlns:a="http://schemas.openxmlformats.org/drawingml/2006/main">
            <a:pPr>
              <a:defRPr sz="150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6DA0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53" name="https-label">
            <a:extLst xmlns:a="http://schemas.openxmlformats.org/drawingml/2006/main">
              <a:ext uri="{FF2B5EF4-FFF2-40B4-BE49-F238E27FC236}">
                <a16:creationId xmlns:a16="http://schemas.microsoft.com/office/drawing/2014/main" id="{BB45D1CA-4CDD-4789-BD8D-2CA9DBD8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816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HTTPS</a:t>
            </a:r>
          </a:p>
        </p:txBody>
      </p:sp>
      <p:sp>
        <p:nvSpPr>
          <p:cNvPr id="54" name="ynab-api-label">
            <a:extLst xmlns:a="http://schemas.openxmlformats.org/drawingml/2006/main">
              <a:ext uri="{FF2B5EF4-FFF2-40B4-BE49-F238E27FC236}">
                <a16:creationId xmlns:a16="http://schemas.microsoft.com/office/drawing/2014/main" id="{5820B0CA-C927-4112-9E29-A18FB2CE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724400"/>
            <a:ext cx="1457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6DA0"/>
                </a:solidFill>
                <a:latin typeface="Arial"/>
                <a:ea typeface="Arial"/>
                <a:cs typeface="Arial"/>
              </a:rPr>
              <a:t>YNAB API</a:t>
            </a:r>
          </a:p>
          <a:p xmlns:a="http://schemas.openxmlformats.org/drawingml/2006/main">
            <a:pPr>
              <a:defRPr sz="1650" b="1">
                <a:solidFill>
                  <a:srgbClr val="166D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6DA0"/>
                </a:solidFill>
                <a:latin typeface="Arial"/>
                <a:ea typeface="Arial"/>
                <a:cs typeface="Arial"/>
              </a:rPr>
              <a:t>over HTTPS</a:t>
            </a:r>
          </a:p>
        </p:txBody>
      </p:sp>
      <p:cxnSp>
        <p:nvCxnSpPr>
          <p:cNvPr id="55" name="firestore-data-flow">
            <a:extLst xmlns:a="http://schemas.openxmlformats.org/drawingml/2006/main">
              <a:ext uri="{FF2B5EF4-FFF2-40B4-BE49-F238E27FC236}">
                <a16:creationId xmlns:a16="http://schemas.microsoft.com/office/drawing/2014/main" id="{7854AB57-CBDA-49B7-BD76-8896153F0607}"/>
              </a:ext>
            </a:extLst>
          </p:cNvPr>
          <p:cNvCxnSpPr/>
          <p:nvPr/>
        </p:nvCxnSpPr>
        <p:spPr>
          <a:xfrm xmlns:a="http://schemas.openxmlformats.org/drawingml/2006/main">
            <a:off x="9953625" y="6543675"/>
            <a:ext cx="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6DA0"/>
            </a:solidFill>
            <a:tailEnd type="triangle" w="med" len="med"/>
          </a:ln>
        </p:spPr>
      </p:cxnSp>
      <p:sp>
        <p:nvSpPr>
          <p:cNvPr id="56" name="firestore-flow-label">
            <a:extLst xmlns:a="http://schemas.openxmlformats.org/drawingml/2006/main">
              <a:ext uri="{FF2B5EF4-FFF2-40B4-BE49-F238E27FC236}">
                <a16:creationId xmlns:a16="http://schemas.microsoft.com/office/drawing/2014/main" id="{73BE07AE-B5AA-49A6-9CA5-02DD6B17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69627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Read + save</a:t>
            </a:r>
          </a:p>
        </p:txBody>
      </p:sp>
      <p:cxnSp>
        <p:nvCxnSpPr>
          <p:cNvPr id="57" name="secrets-leg-a">
            <a:extLst xmlns:a="http://schemas.openxmlformats.org/drawingml/2006/main">
              <a:ext uri="{FF2B5EF4-FFF2-40B4-BE49-F238E27FC236}">
                <a16:creationId xmlns:a16="http://schemas.microsoft.com/office/drawing/2014/main" id="{6BCAB97A-7094-4CAB-BFA9-620423A3092C}"/>
              </a:ext>
            </a:extLst>
          </p:cNvPr>
          <p:cNvCxnSpPr/>
          <p:nvPr/>
        </p:nvCxnSpPr>
        <p:spPr>
          <a:xfrm xmlns:a="http://schemas.openxmlformats.org/drawingml/2006/main">
            <a:off x="11525250" y="6543675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77E83"/>
            </a:solidFill>
            <a:tailEnd type="none" w="med" len="med"/>
          </a:ln>
        </p:spPr>
      </p:cxnSp>
      <p:cxnSp>
        <p:nvCxnSpPr>
          <p:cNvPr id="58" name="secrets-leg-b">
            <a:extLst xmlns:a="http://schemas.openxmlformats.org/drawingml/2006/main">
              <a:ext uri="{FF2B5EF4-FFF2-40B4-BE49-F238E27FC236}">
                <a16:creationId xmlns:a16="http://schemas.microsoft.com/office/drawing/2014/main" id="{398D9C84-F9D5-4091-99B4-24A17C2EC05D}"/>
              </a:ext>
            </a:extLst>
          </p:cNvPr>
          <p:cNvCxnSpPr/>
          <p:nvPr/>
        </p:nvCxnSpPr>
        <p:spPr>
          <a:xfrm xmlns:a="http://schemas.openxmlformats.org/drawingml/2006/main">
            <a:off x="11525250" y="7124700"/>
            <a:ext cx="37338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77E83"/>
            </a:solidFill>
            <a:tailEnd type="none" w="med" len="med"/>
          </a:ln>
        </p:spPr>
      </p:cxnSp>
      <p:cxnSp>
        <p:nvCxnSpPr>
          <p:cNvPr id="59" name="secrets-leg-c">
            <a:extLst xmlns:a="http://schemas.openxmlformats.org/drawingml/2006/main">
              <a:ext uri="{FF2B5EF4-FFF2-40B4-BE49-F238E27FC236}">
                <a16:creationId xmlns:a16="http://schemas.microsoft.com/office/drawing/2014/main" id="{09B74CC1-FF1A-4B28-9675-BC566CD2A77F}"/>
              </a:ext>
            </a:extLst>
          </p:cNvPr>
          <p:cNvCxnSpPr/>
          <p:nvPr/>
        </p:nvCxnSpPr>
        <p:spPr>
          <a:xfrm xmlns:a="http://schemas.openxmlformats.org/drawingml/2006/main">
            <a:off x="15259050" y="7124700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77E83"/>
            </a:solidFill>
            <a:tailEnd type="triangle" w="med" len="med"/>
          </a:ln>
        </p:spPr>
      </p:cxnSp>
      <p:sp>
        <p:nvSpPr>
          <p:cNvPr id="60" name="secrets-flow-label">
            <a:extLst xmlns:a="http://schemas.openxmlformats.org/drawingml/2006/main">
              <a:ext uri="{FF2B5EF4-FFF2-40B4-BE49-F238E27FC236}">
                <a16:creationId xmlns:a16="http://schemas.microsoft.com/office/drawing/2014/main" id="{57F4D756-AD3F-495C-9848-9F2A8D90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6734175"/>
            <a:ext cx="3914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077E8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077E8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077E8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077E8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077E8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077E8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077E8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077E8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077E8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07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077E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77E83"/>
                </a:solidFill>
                <a:latin typeface="Arial"/>
                <a:ea typeface="Arial"/>
                <a:cs typeface="Arial"/>
              </a:rPr>
              <a:t>Retrieve credentials</a:t>
            </a:r>
          </a:p>
        </p:txBody>
      </p:sp>
      <p:sp>
        <p:nvSpPr>
          <p:cNvPr id="61" name="security-controls">
            <a:extLst xmlns:a="http://schemas.openxmlformats.org/drawingml/2006/main">
              <a:ext uri="{FF2B5EF4-FFF2-40B4-BE49-F238E27FC236}">
                <a16:creationId xmlns:a16="http://schemas.microsoft.com/office/drawing/2014/main" id="{E064987B-6F44-41E5-B6F2-B854B5E3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9353550"/>
            <a:ext cx="1695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22C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C43"/>
                </a:solidFill>
                <a:latin typeface="Arial"/>
                <a:ea typeface="Arial"/>
                <a:cs typeface="Arial"/>
              </a:rPr>
              <a:t>Access controls: household checks on every request, secure server credentials and approval before budget changes</a:t>
            </a:r>
          </a:p>
        </p:txBody>
      </p:sp>
      <p:sp>
        <p:nvSpPr>
          <p:cNvPr id="62" name="future-state-disclosure">
            <a:extLst xmlns:a="http://schemas.openxmlformats.org/drawingml/2006/main">
              <a:ext uri="{FF2B5EF4-FFF2-40B4-BE49-F238E27FC236}">
                <a16:creationId xmlns:a16="http://schemas.microsoft.com/office/drawing/2014/main" id="{DE282B4E-A634-438F-9E22-2A81006C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9810750"/>
            <a:ext cx="1695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067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779"/>
                </a:solidFill>
                <a:latin typeface="Arial"/>
                <a:ea typeface="Arial"/>
                <a:cs typeface="Arial"/>
              </a:rPr>
              <a:t>Cloud Storage keeps allocation reports, execution receipts and recovery state.</a:t>
            </a:r>
          </a:p>
        </p:txBody>
      </p:sp>
    </p:spTree>
    <p:extLst>
      <p:ext uri="{BB962C8B-B14F-4D97-AF65-F5344CB8AC3E}">
        <p14:creationId xmlns:p14="http://schemas.microsoft.com/office/powerpoint/2010/main" val="1068738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2026-10-26T14:22:28.1960000Z</dcterms:created>
  <dcterms:modified xsi:type="dcterms:W3CDTF">2026-10-26T14:22:28.1960000Z</dcterms:modified>
</coreProperties>
</file>